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155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2"/>
          </a:solidFill>
          <a:ln w="12700">
            <a:solidFill>
              <a:srgbClr val="17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79792" y="0"/>
            <a:ext cx="4709160" cy="6858000"/>
          </a:xfrm>
          <a:prstGeom prst="rect">
            <a:avLst/>
          </a:prstGeom>
          <a:solidFill>
            <a:srgbClr val="10151D"/>
          </a:solidFill>
          <a:ln w="12700">
            <a:solidFill>
              <a:srgbClr val="10151D"/>
            </a:solidFill>
            <a:prstDash val="solid"/>
          </a:ln>
        </p:spPr>
      </p:sp>
      <p:pic>
        <p:nvPicPr>
          <p:cNvPr id="4" name="Image 0" descr="D:\QA\TEST\ppt_assets\cropped\testcase-ui-crop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178040" y="457200"/>
            <a:ext cx="4572000" cy="25740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457200"/>
            <a:ext cx="4572000" cy="2574036"/>
          </a:xfrm>
          <a:prstGeom prst="rect">
            <a:avLst/>
          </a:prstGeom>
          <a:solidFill>
            <a:srgbClr val="171B22">
              <a:alpha val="52000"/>
            </a:srgbClr>
          </a:solidFill>
          <a:ln w="7620">
            <a:solidFill>
              <a:srgbClr val="3B4656">
                <a:alpha val="5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68580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2B78A">
              <a:alpha val="92000"/>
            </a:srgbClr>
          </a:solidFill>
          <a:ln w="12700">
            <a:solidFill>
              <a:srgbClr val="22B78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" y="75438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BRIEFING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261872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코딩으로 만든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자동 QA 솔루션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21792" y="2761488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9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기기를 보며 반복 테스트하고,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9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필요한 지점에만 단계적으로 더하는 QA 프로토타입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4251960"/>
            <a:ext cx="1755648" cy="1005840"/>
          </a:xfrm>
          <a:prstGeom prst="roundRect">
            <a:avLst>
              <a:gd name="adj" fmla="val 6364"/>
            </a:avLst>
          </a:prstGeom>
          <a:solidFill>
            <a:srgbClr val="222833"/>
          </a:solidFill>
          <a:ln w="7620">
            <a:solidFill>
              <a:srgbClr val="3B46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4434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B7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4672" y="48006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9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ADB 연결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24328" y="4251960"/>
            <a:ext cx="1755648" cy="1005840"/>
          </a:xfrm>
          <a:prstGeom prst="roundRect">
            <a:avLst>
              <a:gd name="adj" fmla="val 6364"/>
            </a:avLst>
          </a:prstGeom>
          <a:solidFill>
            <a:srgbClr val="222833"/>
          </a:solidFill>
          <a:ln w="7620">
            <a:solidFill>
              <a:srgbClr val="3B465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88920" y="4434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65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788920" y="48006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9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Recorder / Random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08576" y="4251960"/>
            <a:ext cx="1755648" cy="1005840"/>
          </a:xfrm>
          <a:prstGeom prst="roundRect">
            <a:avLst>
              <a:gd name="adj" fmla="val 6364"/>
            </a:avLst>
          </a:prstGeom>
          <a:solidFill>
            <a:srgbClr val="222833"/>
          </a:solidFill>
          <a:ln w="7620">
            <a:solidFill>
              <a:srgbClr val="3B465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73168" y="4434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6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773168" y="48006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9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선택 적용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0080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8D9C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 | Internal Prototype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52881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2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Tablet QA Automation | Team Briefing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8B2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2B7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QA의 반복 부담에서 출발했습니다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완성형 테스트 플랫폼이 아니라, 실제 기기를 대상으로 빠르게 검증 가능한 초기 모델을 만드는 것이었습니다.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6F8FB"/>
          </a:solidFill>
          <a:ln w="889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28800"/>
            <a:ext cx="59436" cy="2331720"/>
          </a:xfrm>
          <a:prstGeom prst="rect">
            <a:avLst/>
          </a:prstGeom>
          <a:solidFill>
            <a:srgbClr val="D95262"/>
          </a:solidFill>
          <a:ln w="12700">
            <a:solidFill>
              <a:srgbClr val="D952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테스트의 피로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359152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화면 전환과 버튼 동작을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수동으로 확인해야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82880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6F8FB"/>
          </a:solidFill>
          <a:ln w="889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4256" y="1828800"/>
            <a:ext cx="59436" cy="2331720"/>
          </a:xfrm>
          <a:prstGeom prst="rect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관찰과 기록의 분리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2856" y="2359152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화면을 보면서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결과를 별도로 정리해야 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182880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6F8FB"/>
          </a:solidFill>
          <a:ln w="889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1828800"/>
            <a:ext cx="59436" cy="2331720"/>
          </a:xfrm>
          <a:prstGeom prst="rect">
            <a:avLst/>
          </a:prstGeom>
          <a:solidFill>
            <a:srgbClr val="3D65D7"/>
          </a:solidFill>
          <a:ln w="12700">
            <a:solidFill>
              <a:srgbClr val="3D65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재현성의 한계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0184" y="2359152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순서와 좌표로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발생했는지 다시 찾기 어렵습니다.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8920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8F7F1"/>
          </a:solidFill>
          <a:ln w="8890">
            <a:solidFill>
              <a:srgbClr val="B9E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5157216"/>
            <a:ext cx="411480" cy="411480"/>
          </a:xfrm>
          <a:prstGeom prst="ellipse">
            <a:avLst/>
          </a:prstGeom>
          <a:solidFill>
            <a:srgbClr val="22B78A"/>
          </a:solidFill>
          <a:ln w="12700">
            <a:solidFill>
              <a:srgbClr val="22B7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239512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1328" y="5138928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6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 접근: 사용 흐름을 빠르게 구현하고, 실제 태블릿에서 보며 기능과 UX를 반복 검증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87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Tablet QA Automation | Team Briefing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A87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8D9C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솔루션은 “기기 관찰 + 입력 + 검증”을 한 화면에 모읍니다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874520"/>
            <a:ext cx="2057400" cy="1243584"/>
          </a:xfrm>
          <a:prstGeom prst="roundRect">
            <a:avLst>
              <a:gd name="adj" fmla="val 5882"/>
            </a:avLst>
          </a:prstGeom>
          <a:solidFill>
            <a:srgbClr val="222833"/>
          </a:solidFill>
          <a:ln w="10160">
            <a:solidFill>
              <a:srgbClr val="3B46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1618488"/>
            <a:ext cx="502920" cy="502920"/>
          </a:xfrm>
          <a:prstGeom prst="ellipse">
            <a:avLst/>
          </a:prstGeom>
          <a:solidFill>
            <a:srgbClr val="22B78A"/>
          </a:solidFill>
          <a:ln w="12700">
            <a:solidFill>
              <a:srgbClr val="22B7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0472" y="17282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22219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59689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B9C5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앱 화면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62072" y="23957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48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218688" y="1874520"/>
            <a:ext cx="2057400" cy="1243584"/>
          </a:xfrm>
          <a:prstGeom prst="roundRect">
            <a:avLst>
              <a:gd name="adj" fmla="val 5882"/>
            </a:avLst>
          </a:prstGeom>
          <a:solidFill>
            <a:srgbClr val="222833"/>
          </a:solidFill>
          <a:ln w="10160">
            <a:solidFill>
              <a:srgbClr val="3B46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95928" y="1618488"/>
            <a:ext cx="502920" cy="502920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95928" y="17282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22219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55848" y="259689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B9C5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· 입력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67528" y="23957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48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724144" y="1874520"/>
            <a:ext cx="2057400" cy="1243584"/>
          </a:xfrm>
          <a:prstGeom prst="roundRect">
            <a:avLst>
              <a:gd name="adj" fmla="val 5882"/>
            </a:avLst>
          </a:prstGeom>
          <a:solidFill>
            <a:srgbClr val="222833"/>
          </a:solidFill>
          <a:ln w="10160">
            <a:solidFill>
              <a:srgbClr val="3B46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1384" y="1618488"/>
            <a:ext cx="502920" cy="502920"/>
          </a:xfrm>
          <a:prstGeom prst="ellipse">
            <a:avLst/>
          </a:prstGeom>
          <a:solidFill>
            <a:srgbClr val="3D65D7"/>
          </a:solidFill>
          <a:ln w="12700">
            <a:solidFill>
              <a:srgbClr val="3D65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17282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61304" y="22219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/ Socket.IO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61304" y="259689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B9C5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미러링 · 실행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72984" y="23957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48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732520" y="1874520"/>
            <a:ext cx="2057400" cy="1243584"/>
          </a:xfrm>
          <a:prstGeom prst="roundRect">
            <a:avLst>
              <a:gd name="adj" fmla="val 5882"/>
            </a:avLst>
          </a:prstGeom>
          <a:solidFill>
            <a:srgbClr val="222833"/>
          </a:solidFill>
          <a:ln w="10160">
            <a:solidFill>
              <a:srgbClr val="3B46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0" y="1618488"/>
            <a:ext cx="502920" cy="502920"/>
          </a:xfrm>
          <a:prstGeom prst="ellipse">
            <a:avLst/>
          </a:prstGeom>
          <a:solidFill>
            <a:srgbClr val="22B78A"/>
          </a:solidFill>
          <a:ln w="12700">
            <a:solidFill>
              <a:srgbClr val="22B7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17282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0" y="22219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브라우저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69680" y="259689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B9C5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· 제어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B9C5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인식·실행 레이어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4315968"/>
            <a:ext cx="2487168" cy="1143000"/>
          </a:xfrm>
          <a:prstGeom prst="roundRect">
            <a:avLst>
              <a:gd name="adj" fmla="val 4000"/>
            </a:avLst>
          </a:prstGeom>
          <a:solidFill>
            <a:srgbClr val="1D2430"/>
          </a:solidFill>
          <a:ln w="7620">
            <a:solidFill>
              <a:srgbClr val="3B46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315968"/>
            <a:ext cx="54864" cy="1143000"/>
          </a:xfrm>
          <a:prstGeom prst="rect">
            <a:avLst/>
          </a:prstGeom>
          <a:solidFill>
            <a:srgbClr val="22B78A"/>
          </a:solidFill>
          <a:ln w="12700">
            <a:solidFill>
              <a:srgbClr val="22B7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45354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UIAutomator XML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" y="48920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B9C5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· bounds · 클릭 후보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3474720" y="4315968"/>
            <a:ext cx="2487168" cy="1143000"/>
          </a:xfrm>
          <a:prstGeom prst="roundRect">
            <a:avLst>
              <a:gd name="adj" fmla="val 4000"/>
            </a:avLst>
          </a:prstGeom>
          <a:solidFill>
            <a:srgbClr val="1D2430"/>
          </a:solidFill>
          <a:ln w="7620">
            <a:solidFill>
              <a:srgbClr val="3B465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4315968"/>
            <a:ext cx="54864" cy="1143000"/>
          </a:xfrm>
          <a:prstGeom prst="rect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45354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EasyOCR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75888" y="48920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B9C5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이미지·캔버스 텍스트 보조 인식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6217920" y="4315968"/>
            <a:ext cx="2487168" cy="1143000"/>
          </a:xfrm>
          <a:prstGeom prst="roundRect">
            <a:avLst>
              <a:gd name="adj" fmla="val 4000"/>
            </a:avLst>
          </a:prstGeom>
          <a:solidFill>
            <a:srgbClr val="1D2430"/>
          </a:solidFill>
          <a:ln w="7620">
            <a:solidFill>
              <a:srgbClr val="3B46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4315968"/>
            <a:ext cx="54864" cy="1143000"/>
          </a:xfrm>
          <a:prstGeom prst="rect">
            <a:avLst/>
          </a:prstGeom>
          <a:solidFill>
            <a:srgbClr val="3D65D7"/>
          </a:solidFill>
          <a:ln w="12700">
            <a:solidFill>
              <a:srgbClr val="3D65D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45354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/ Recorder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19088" y="48920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B9C5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입력과 반복 재생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8961120" y="4315968"/>
            <a:ext cx="2487168" cy="1143000"/>
          </a:xfrm>
          <a:prstGeom prst="roundRect">
            <a:avLst>
              <a:gd name="adj" fmla="val 4000"/>
            </a:avLst>
          </a:prstGeom>
          <a:solidFill>
            <a:srgbClr val="1D2430"/>
          </a:solidFill>
          <a:ln w="7620">
            <a:solidFill>
              <a:srgbClr val="3B465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0" y="4315968"/>
            <a:ext cx="54864" cy="1143000"/>
          </a:xfrm>
          <a:prstGeom prst="rect">
            <a:avLst/>
          </a:prstGeom>
          <a:solidFill>
            <a:srgbClr val="A96DE3"/>
          </a:solidFill>
          <a:ln w="12700">
            <a:solidFill>
              <a:srgbClr val="A96D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62288" y="45354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Planner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62288" y="48920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B9C5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단계의 후보 선택 보조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2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Tablet QA Automation | Team Briefing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8B2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2B7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 Area에서 실행·관찰·결과 확인을 분리했습니다</a:t>
            </a:r>
            <a:endParaRPr lang="en-US" sz="2800" dirty="0"/>
          </a:p>
        </p:txBody>
      </p:sp>
      <p:pic>
        <p:nvPicPr>
          <p:cNvPr id="4" name="Image 0" descr="D:\QA\TEST\ppt_assets\cropped\testcase-ui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9888"/>
            <a:ext cx="5806440" cy="32689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20840" y="1417320"/>
            <a:ext cx="4892040" cy="4041648"/>
          </a:xfrm>
          <a:prstGeom prst="roundRect">
            <a:avLst>
              <a:gd name="adj" fmla="val 1131"/>
            </a:avLst>
          </a:prstGeom>
          <a:solidFill>
            <a:srgbClr val="F6F8FB"/>
          </a:solidFill>
          <a:ln w="8890">
            <a:solidFill>
              <a:srgbClr val="D8E0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022592" y="1700784"/>
            <a:ext cx="274320" cy="274320"/>
          </a:xfrm>
          <a:prstGeom prst="ellipse">
            <a:avLst/>
          </a:prstGeom>
          <a:solidFill>
            <a:srgbClr val="22B7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79792" y="1682496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미러링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79792" y="19568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화면을 PC 브라우저에서 관찰하고 마우스 입력을 전달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7022592" y="2560320"/>
            <a:ext cx="274320" cy="274320"/>
          </a:xfrm>
          <a:prstGeom prst="ellipse">
            <a:avLst/>
          </a:prstGeom>
          <a:solidFill>
            <a:srgbClr val="3D65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79792" y="2542032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Test Case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79792" y="2816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업로드한 시나리오를 순서대로 실행하고 Pass / Fail / Block(N/A)로 분류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7022592" y="3419856"/>
            <a:ext cx="274320" cy="274320"/>
          </a:xfrm>
          <a:prstGeom prst="ellipse">
            <a:avLst/>
          </a:prstGeom>
          <a:solidFill>
            <a:srgbClr val="A96D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79792" y="3401568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TC RUN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79792" y="3675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XML·OCR 실행을 우선하고, 모호한 항목만 AI가 후보 기반으로 보조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7022592" y="4279392"/>
            <a:ext cx="274320" cy="274320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79792" y="4261104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가시화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479792" y="45354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Test Progress에서 실행 과정과 결과를 상태별로 확인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640080" y="4983480"/>
            <a:ext cx="2395728" cy="310896"/>
          </a:xfrm>
          <a:prstGeom prst="roundRect">
            <a:avLst>
              <a:gd name="adj" fmla="val 14706"/>
            </a:avLst>
          </a:prstGeom>
          <a:solidFill>
            <a:srgbClr val="3D65D7">
              <a:alpha val="92000"/>
            </a:srgbClr>
          </a:solidFill>
          <a:ln w="12700">
            <a:solidFill>
              <a:srgbClr val="3D65D7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5052060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로컬 솔루션 화면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57200" y="652881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87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Tablet QA Automation | Team Briefing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A87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8D9C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REPEATABLE QA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모델의 핵심은 “같은 테스트를 다시 돌릴 수 있는가”입니다</a:t>
            </a:r>
            <a:endParaRPr lang="en-US" sz="2800" dirty="0"/>
          </a:p>
        </p:txBody>
      </p:sp>
      <p:pic>
        <p:nvPicPr>
          <p:cNvPr id="4" name="Image 0" descr="D:\QA\TEST\ppt_assets\cropped\recorder-ui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5120640" cy="2880360"/>
          </a:xfrm>
          <a:prstGeom prst="rect">
            <a:avLst/>
          </a:prstGeom>
        </p:spPr>
      </p:pic>
      <p:pic>
        <p:nvPicPr>
          <p:cNvPr id="5" name="Image 1" descr="D:\QA\TEST\ppt_assets\cropped\random-test-ui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481328"/>
            <a:ext cx="5120640" cy="2880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78992" y="4901184"/>
            <a:ext cx="1078992" cy="493776"/>
          </a:xfrm>
          <a:prstGeom prst="roundRect">
            <a:avLst>
              <a:gd name="adj" fmla="val 7407"/>
            </a:avLst>
          </a:prstGeom>
          <a:solidFill>
            <a:srgbClr val="D95262"/>
          </a:solidFill>
          <a:ln w="12700">
            <a:solidFill>
              <a:srgbClr val="D9526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52144" y="505663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2404872" y="4901184"/>
            <a:ext cx="1078992" cy="493776"/>
          </a:xfrm>
          <a:prstGeom prst="roundRect">
            <a:avLst>
              <a:gd name="adj" fmla="val 7407"/>
            </a:avLst>
          </a:prstGeom>
          <a:solidFill>
            <a:srgbClr val="3D65D7"/>
          </a:solidFill>
          <a:ln w="12700">
            <a:solidFill>
              <a:srgbClr val="3D65D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478024" y="505663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730752" y="4901184"/>
            <a:ext cx="1417320" cy="493776"/>
          </a:xfrm>
          <a:prstGeom prst="roundRect">
            <a:avLst>
              <a:gd name="adj" fmla="val 7407"/>
            </a:avLst>
          </a:prstGeom>
          <a:solidFill>
            <a:srgbClr val="22B78A"/>
          </a:solidFill>
          <a:ln w="12700">
            <a:solidFill>
              <a:srgbClr val="22B78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803904" y="505663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1~10회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479792" y="4901184"/>
            <a:ext cx="1078992" cy="493776"/>
          </a:xfrm>
          <a:prstGeom prst="roundRect">
            <a:avLst>
              <a:gd name="adj" fmla="val 7407"/>
            </a:avLst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52944" y="505663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942832" y="4901184"/>
            <a:ext cx="1078992" cy="493776"/>
          </a:xfrm>
          <a:prstGeom prst="roundRect">
            <a:avLst>
              <a:gd name="adj" fmla="val 7407"/>
            </a:avLst>
          </a:prstGeom>
          <a:solidFill>
            <a:srgbClr val="3D65D7"/>
          </a:solidFill>
          <a:ln w="12700">
            <a:solidFill>
              <a:srgbClr val="3D65D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015984" y="505663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분석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10405872" y="4901184"/>
            <a:ext cx="1078992" cy="493776"/>
          </a:xfrm>
          <a:prstGeom prst="roundRect">
            <a:avLst>
              <a:gd name="adj" fmla="val 7407"/>
            </a:avLst>
          </a:prstGeom>
          <a:solidFill>
            <a:srgbClr val="22B78A"/>
          </a:solidFill>
          <a:ln w="12700">
            <a:solidFill>
              <a:srgbClr val="22B78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479024" y="505663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Run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103120" y="500176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090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502152" y="500176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090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641080" y="500176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090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104120" y="500176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090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58368" y="5715000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9D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Recorder는 정해진 회귀 동작을, Random Test는 탐색형 동작을 반복 가능하게 만듭니다.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57200" y="652881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2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Tablet QA Automation | Team Briefing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8B2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2B7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AUGMENTATION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막히는 지점의 보조 장치입니다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87168" cy="2468880"/>
          </a:xfrm>
          <a:prstGeom prst="roundRect">
            <a:avLst>
              <a:gd name="adj" fmla="val 2593"/>
            </a:avLst>
          </a:prstGeom>
          <a:solidFill>
            <a:srgbClr val="F6F8FB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1536192"/>
            <a:ext cx="694944" cy="694944"/>
          </a:xfrm>
          <a:prstGeom prst="ellipse">
            <a:avLst/>
          </a:prstGeom>
          <a:solidFill>
            <a:srgbClr val="22B78A"/>
          </a:solidFill>
          <a:ln w="12700">
            <a:solidFill>
              <a:srgbClr val="22B7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6192" y="173736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엔진 우선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880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UIAutomator XML과 OCR로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텍스트·좌표 후보를 먼저 찾습니다.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3182112" y="2862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1A0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93008" y="1828800"/>
            <a:ext cx="2487168" cy="2468880"/>
          </a:xfrm>
          <a:prstGeom prst="roundRect">
            <a:avLst>
              <a:gd name="adj" fmla="val 2593"/>
            </a:avLst>
          </a:prstGeom>
          <a:solidFill>
            <a:srgbClr val="F6F8FB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536192"/>
            <a:ext cx="694944" cy="694944"/>
          </a:xfrm>
          <a:prstGeom prst="ellipse">
            <a:avLst/>
          </a:prstGeom>
          <a:solidFill>
            <a:srgbClr val="A96DE3"/>
          </a:solidFill>
          <a:ln w="12700">
            <a:solidFill>
              <a:srgbClr val="A96D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73736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75888" y="242316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보조 분석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2880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모호하거나 실패한 항목만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화면과 후보 목록을 분석합니다.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6035040" y="2862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1A0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45936" y="1828800"/>
            <a:ext cx="2487168" cy="2468880"/>
          </a:xfrm>
          <a:prstGeom prst="roundRect">
            <a:avLst>
              <a:gd name="adj" fmla="val 2593"/>
            </a:avLst>
          </a:prstGeom>
          <a:solidFill>
            <a:srgbClr val="F6F8FB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2048" y="1536192"/>
            <a:ext cx="694944" cy="694944"/>
          </a:xfrm>
          <a:prstGeom prst="ellipse">
            <a:avLst/>
          </a:prstGeom>
          <a:solidFill>
            <a:srgbClr val="3D65D7"/>
          </a:solidFill>
          <a:ln w="12700">
            <a:solidFill>
              <a:srgbClr val="3D65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173736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28816" y="242316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기반 실행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56248" y="2880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새 좌표를 만들지 않고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후보 중 하나만 선택합니다.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8887968" y="2862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1A0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98864" y="1828800"/>
            <a:ext cx="2487168" cy="2468880"/>
          </a:xfrm>
          <a:prstGeom prst="roundRect">
            <a:avLst>
              <a:gd name="adj" fmla="val 2593"/>
            </a:avLst>
          </a:prstGeom>
          <a:solidFill>
            <a:srgbClr val="F6F8FB"/>
          </a:solidFill>
          <a:ln w="8890">
            <a:solidFill>
              <a:srgbClr val="D7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94976" y="1536192"/>
            <a:ext cx="694944" cy="694944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94976" y="173736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81744" y="242316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누적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09176" y="2880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ai-assisted 결과와 이전 이력을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실행의 참고 정보로 남깁니다.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1097280" y="4983480"/>
            <a:ext cx="9966960" cy="685800"/>
          </a:xfrm>
          <a:prstGeom prst="roundRect">
            <a:avLst>
              <a:gd name="adj" fmla="val 6667"/>
            </a:avLst>
          </a:prstGeom>
          <a:solidFill>
            <a:srgbClr val="EBF2FF"/>
          </a:solidFill>
          <a:ln w="7620">
            <a:solidFill>
              <a:srgbClr val="BED0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519379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305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장점: 화면 변화·텍스트·이전 실패 맥락을 함께 보고, 사람이 작성하기 어려운 탐색 우선순위를 제안할 수 있습니다.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87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Tablet QA Automation | Team Briefing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A87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8D9C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권장은 “기본 자동화는 고정, AI는 선택 적용”입니다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230368" cy="4069080"/>
          </a:xfrm>
          <a:prstGeom prst="roundRect">
            <a:avLst>
              <a:gd name="adj" fmla="val 1348"/>
            </a:avLst>
          </a:prstGeom>
          <a:solidFill>
            <a:srgbClr val="1D2430"/>
          </a:solidFill>
          <a:ln w="8890">
            <a:solidFill>
              <a:srgbClr val="3B46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2B7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반복 테스트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221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9C5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없이 자주 수행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2779776"/>
            <a:ext cx="256032" cy="256032"/>
          </a:xfrm>
          <a:prstGeom prst="ellipse">
            <a:avLst/>
          </a:prstGeom>
          <a:solidFill>
            <a:srgbClr val="22B78A"/>
          </a:solidFill>
          <a:ln w="12700">
            <a:solidFill>
              <a:srgbClr val="22B7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Recorder: 핵심 회귀 동작 반복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3438144"/>
            <a:ext cx="256032" cy="256032"/>
          </a:xfrm>
          <a:prstGeom prst="ellipse">
            <a:avLst/>
          </a:prstGeom>
          <a:solidFill>
            <a:srgbClr val="22B78A"/>
          </a:solidFill>
          <a:ln w="12700">
            <a:solidFill>
              <a:srgbClr val="22B7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44728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Excel: 정의된 Test Case 순차 실행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4096512"/>
            <a:ext cx="256032" cy="256032"/>
          </a:xfrm>
          <a:prstGeom prst="ellipse">
            <a:avLst/>
          </a:prstGeom>
          <a:solidFill>
            <a:srgbClr val="22B78A"/>
          </a:solidFill>
          <a:ln w="12700">
            <a:solidFill>
              <a:srgbClr val="22B7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105656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Run: UI 후보 기반 탐색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91072" y="1572768"/>
            <a:ext cx="5230368" cy="4069080"/>
          </a:xfrm>
          <a:prstGeom prst="roundRect">
            <a:avLst>
              <a:gd name="adj" fmla="val 1348"/>
            </a:avLst>
          </a:prstGeom>
          <a:solidFill>
            <a:srgbClr val="25223A"/>
          </a:solidFill>
          <a:ln w="8890">
            <a:solidFill>
              <a:srgbClr val="514D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C9A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선택 적용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01968" y="22219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9C2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비용이 발생하는 확장 영역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01968" y="2779776"/>
            <a:ext cx="256032" cy="256032"/>
          </a:xfrm>
          <a:prstGeom prst="ellipse">
            <a:avLst/>
          </a:prstGeom>
          <a:solidFill>
            <a:srgbClr val="A96DE3"/>
          </a:solidFill>
          <a:ln w="12700">
            <a:solidFill>
              <a:srgbClr val="A96D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788920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Random Run: 탐색 순서 보조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01968" y="3438144"/>
            <a:ext cx="256032" cy="256032"/>
          </a:xfrm>
          <a:prstGeom prst="ellipse">
            <a:avLst/>
          </a:prstGeom>
          <a:solidFill>
            <a:srgbClr val="A96DE3"/>
          </a:solidFill>
          <a:ln w="12700">
            <a:solidFill>
              <a:srgbClr val="A96D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3447288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TC RUN: 모호한 Test Case 복구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01968" y="4096512"/>
            <a:ext cx="256032" cy="256032"/>
          </a:xfrm>
          <a:prstGeom prst="ellipse">
            <a:avLst/>
          </a:prstGeom>
          <a:solidFill>
            <a:srgbClr val="A96DE3"/>
          </a:solidFill>
          <a:ln w="12700">
            <a:solidFill>
              <a:srgbClr val="A96D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4105656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예산 상한: 실행별 사용량 관리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225296" y="5870448"/>
            <a:ext cx="9738360" cy="411480"/>
          </a:xfrm>
          <a:prstGeom prst="roundRect">
            <a:avLst>
              <a:gd name="adj" fmla="val 8889"/>
            </a:avLst>
          </a:prstGeom>
          <a:solidFill>
            <a:srgbClr val="352A2E"/>
          </a:solidFill>
          <a:ln w="7620">
            <a:solidFill>
              <a:srgbClr val="6A47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5989320"/>
            <a:ext cx="9326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b="1" dirty="0" smtClean="0">
                <a:solidFill>
                  <a:srgbClr val="F2C2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80" b="1" dirty="0">
                <a:solidFill>
                  <a:srgbClr val="F2C2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구매 · 탈퇴 · 삭제 · 초기화 · 시스템 설정 </a:t>
            </a:r>
            <a:r>
              <a:rPr lang="en-US" sz="1080" b="1" dirty="0" err="1">
                <a:solidFill>
                  <a:srgbClr val="F2C2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변경은</a:t>
            </a:r>
            <a:r>
              <a:rPr lang="en-US" sz="1080" b="1" dirty="0">
                <a:solidFill>
                  <a:srgbClr val="F2C2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80" b="1" dirty="0" smtClean="0">
                <a:solidFill>
                  <a:srgbClr val="F2C2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업데이트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2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Tablet QA Automation | Team Briefing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8B2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22B7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단계는 “더 많이 자동화”보다 “더 신뢰성 있게 자동화”입니다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25880" y="2880360"/>
            <a:ext cx="9509760" cy="0"/>
          </a:xfrm>
          <a:prstGeom prst="line">
            <a:avLst/>
          </a:prstGeom>
          <a:noFill/>
          <a:ln w="16510">
            <a:solidFill>
              <a:srgbClr val="C7D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514600"/>
            <a:ext cx="713232" cy="713232"/>
          </a:xfrm>
          <a:prstGeom prst="ellipse">
            <a:avLst/>
          </a:prstGeom>
          <a:solidFill>
            <a:srgbClr val="22B78A"/>
          </a:solidFill>
          <a:ln w="12700">
            <a:solidFill>
              <a:srgbClr val="22B7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72491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353872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3977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기기 미러링과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QA가 가능한 프로토타입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86200" y="2514600"/>
            <a:ext cx="713232" cy="713232"/>
          </a:xfrm>
          <a:prstGeom prst="ellipse">
            <a:avLst/>
          </a:prstGeom>
          <a:solidFill>
            <a:srgbClr val="3D65D7"/>
          </a:solidFill>
          <a:ln w="12700">
            <a:solidFill>
              <a:srgbClr val="3D65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72491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10712" y="353872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3977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예산 관리 · 재계획 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리포트 고도화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75120" y="2514600"/>
            <a:ext cx="713232" cy="713232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72491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9632" y="353872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97880" y="3977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Appium 기반 구조화 자동화와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시나리오 회귀 체계화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64040" y="2514600"/>
            <a:ext cx="713232" cy="713232"/>
          </a:xfrm>
          <a:prstGeom prst="ellipse">
            <a:avLst/>
          </a:prstGeom>
          <a:solidFill>
            <a:srgbClr val="A96DE3"/>
          </a:solidFill>
          <a:ln w="12700">
            <a:solidFill>
              <a:srgbClr val="A96D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64040" y="272491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88552" y="353872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3977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고정 테스트,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572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탐색과 예외는 AI에 위임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143000" y="5358384"/>
            <a:ext cx="9921240" cy="694944"/>
          </a:xfrm>
          <a:prstGeom prst="roundRect">
            <a:avLst>
              <a:gd name="adj" fmla="val 6579"/>
            </a:avLst>
          </a:prstGeom>
          <a:solidFill>
            <a:srgbClr val="171B22"/>
          </a:solidFill>
          <a:ln w="12700">
            <a:solidFill>
              <a:srgbClr val="171B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5568696"/>
            <a:ext cx="9372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6F8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결론  |  반복 검증은 Recorder · Excel로 표준화하고, 탐색 · 화면 인식 · 예외 판단에 AI를 선택적으로 사용합니다.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87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Tablet QA Automation | Team Briefing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0140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A87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628</Words>
  <Application>Microsoft Office PowerPoint</Application>
  <PresentationFormat>와이드스크린</PresentationFormat>
  <Paragraphs>154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Internal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바이브 코딩으로 만든 태블릿 자동 QA 솔루션</dc:title>
  <dc:subject>Tablet QA automation prototype and AI roadmap</dc:subject>
  <dc:creator>QA Automation Team</dc:creator>
  <cp:lastModifiedBy>USER</cp:lastModifiedBy>
  <cp:revision>2</cp:revision>
  <dcterms:created xsi:type="dcterms:W3CDTF">2026-07-21T01:24:25Z</dcterms:created>
  <dcterms:modified xsi:type="dcterms:W3CDTF">2026-07-24T02:26:12Z</dcterms:modified>
</cp:coreProperties>
</file>